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8" r:id="rId19"/>
    <p:sldId id="260" r:id="rId11"/>
    <p:sldId id="261" r:id="rId12"/>
    <p:sldId id="262" r:id="rId13"/>
    <p:sldId id="269" r:id="rId20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mulacija valova staničnim automatima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on Timeline_ Tijek Prezentaci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Što su stanični automati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wayjeva igra života_ Konačni autom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way_rules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99" y="507999"/>
            <a:ext cx="10477499" cy="69849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4300" b="1">
                <a:solidFill>
                  <a:srgbClr val="F2F8FF"/>
                </a:solidFill>
                <a:latin typeface="Aptos Display"/>
              </a:defRPr>
            </a:pPr>
            <a:r>
              <a:t>Pravila Conwayjeve igre života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49" y="1219199"/>
            <a:ext cx="9842499" cy="50799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500" b="0">
                <a:solidFill>
                  <a:srgbClr val="BEE0F7"/>
                </a:solidFill>
                <a:latin typeface="Aptos Display"/>
              </a:defRPr>
            </a:pPr>
            <a:r>
              <a:t>Svaka stanica ima 8 susjeda · sva pravila primjenjuju se istodobno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699" y="2298699"/>
            <a:ext cx="3301999" cy="3746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200" b="1">
                <a:solidFill>
                  <a:srgbClr val="FFBE6C"/>
                </a:solidFill>
                <a:latin typeface="Aptos Display"/>
              </a:defRPr>
            </a:pPr>
            <a:r>
              <a:t>01   RAĐANJE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699" y="2825749"/>
            <a:ext cx="3270249" cy="9080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0">
                <a:solidFill>
                  <a:srgbClr val="E9F4FF"/>
                </a:solidFill>
                <a:latin typeface="Aptos Display"/>
              </a:defRPr>
            </a:pPr>
            <a:r>
              <a:t>Mrtva stanica oživljava ako ima točno 3 živa susjeda.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8449" y="2298699"/>
            <a:ext cx="3301999" cy="3746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200" b="1">
                <a:solidFill>
                  <a:srgbClr val="FFBE6C"/>
                </a:solidFill>
                <a:latin typeface="Aptos Display"/>
              </a:defRPr>
            </a:pPr>
            <a:r>
              <a:t>02   PREŽIVLJAVANJE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8449" y="2825749"/>
            <a:ext cx="3270249" cy="9080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0">
                <a:solidFill>
                  <a:srgbClr val="E9F4FF"/>
                </a:solidFill>
                <a:latin typeface="Aptos Display"/>
              </a:defRPr>
            </a:pPr>
            <a:r>
              <a:t>Živa stanica preživljava ako ima 2 ili 3 živa susjeda.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699" y="4584699"/>
            <a:ext cx="3301999" cy="3746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200" b="1">
                <a:solidFill>
                  <a:srgbClr val="5EC6FF"/>
                </a:solidFill>
                <a:latin typeface="Aptos Display"/>
              </a:defRPr>
            </a:pPr>
            <a:r>
              <a:t>03   OSAMLJENOST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699" y="5111749"/>
            <a:ext cx="3270249" cy="9080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0">
                <a:solidFill>
                  <a:srgbClr val="E9F4FF"/>
                </a:solidFill>
                <a:latin typeface="Aptos Display"/>
              </a:defRPr>
            </a:pPr>
            <a:r>
              <a:t>Živa stanica umire ako ima manje od 2 živa susjeda.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8449" y="4584699"/>
            <a:ext cx="3301999" cy="3746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200" b="1">
                <a:solidFill>
                  <a:srgbClr val="5EC6FF"/>
                </a:solidFill>
                <a:latin typeface="Aptos Display"/>
              </a:defRPr>
            </a:pPr>
            <a:r>
              <a:t>04   PRENAPUČENOST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49" y="5111749"/>
            <a:ext cx="3270249" cy="9080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0">
                <a:solidFill>
                  <a:srgbClr val="E9F4FF"/>
                </a:solidFill>
                <a:latin typeface="Aptos Display"/>
              </a:defRPr>
            </a:pPr>
            <a:r>
              <a:t>Živa stanica umire ako ima više od 3 živa susjeda.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93499" y="6464299"/>
            <a:ext cx="444499" cy="222249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r">
              <a:defRPr sz="1800" b="0">
                <a:solidFill>
                  <a:srgbClr val="E1F0FF"/>
                </a:solidFill>
                <a:latin typeface="Aptos Display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 mreži stanica_ Neonski autom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llular Automaton Evolution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d života do valova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llular Automata Wave Simulation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PU vs GPU_ Sequential and parallel up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zualizacija 3D terena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on Wave Simulation Grid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Zaključak_ Valovi inovaci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555480" y="3840480"/>
            <a:ext cx="21488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20072" y="3931920"/>
            <a:ext cx="1819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82238"/>
                </a:solidFill>
              </a:rPr>
              <a:t>GitHub repozitorij</a:t>
            </a:r>
          </a:p>
        </p:txBody>
      </p:sp>
      <p:pic>
        <p:nvPicPr>
          <p:cNvPr id="5" name="Picture 4" descr="github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1220" y="4224528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65208" y="6007608"/>
            <a:ext cx="192938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374B6E"/>
                </a:solidFill>
              </a:rPr>
              <a:t>github.com/siladrenja/...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5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82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0"/>
            <a:ext cx="3840480" cy="6858000"/>
          </a:xfrm>
          <a:prstGeom prst="rect">
            <a:avLst/>
          </a:prstGeom>
          <a:solidFill>
            <a:srgbClr val="071C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3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Kako radi naš stanični automat?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5943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EDCFF"/>
                </a:solidFill>
              </a:rPr>
              <a:t>Diskretna jednadžba valova s prigušenjem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560320" cy="36576"/>
          </a:xfrm>
          <a:prstGeom prst="rect">
            <a:avLst/>
          </a:prstGeom>
          <a:solidFill>
            <a:srgbClr val="3C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10972800" cy="1325880"/>
          </a:xfrm>
          <a:prstGeom prst="roundRect">
            <a:avLst/>
          </a:prstGeom>
          <a:solidFill>
            <a:srgbClr val="0D1C3A"/>
          </a:solidFill>
          <a:ln w="20320">
            <a:solidFill>
              <a:srgbClr val="50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1051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hₜ₊₁ = 0.9965 · [ 2hₜ − hₜ₋₁ + 0.48 · ( h_L + h_R + h_U + h_D − 4hₜ )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5394960" cy="2697480"/>
          </a:xfrm>
          <a:prstGeom prst="roundRect">
            <a:avLst/>
          </a:prstGeom>
          <a:solidFill>
            <a:srgbClr val="0A172F"/>
          </a:solidFill>
          <a:ln>
            <a:solidFill>
              <a:srgbClr val="37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3246120"/>
            <a:ext cx="5394960" cy="2697480"/>
          </a:xfrm>
          <a:prstGeom prst="roundRect">
            <a:avLst/>
          </a:prstGeom>
          <a:solidFill>
            <a:srgbClr val="0A172F"/>
          </a:solidFill>
          <a:ln>
            <a:solidFill>
              <a:srgbClr val="378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20440"/>
            <a:ext cx="4892040" cy="2331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FFFFFF"/>
                </a:solidFill>
              </a:rPr>
              <a:t>hₜ — </a:t>
            </a:r>
            <a:r>
              <a:rPr sz="1500">
                <a:solidFill>
                  <a:srgbClr val="D2E4FF"/>
                </a:solidFill>
              </a:rPr>
              <a:t>trenutna visina ćelije.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FFFF"/>
                </a:solidFill>
              </a:rPr>
              <a:t>hₜ₋₁ — </a:t>
            </a:r>
            <a:r>
              <a:rPr sz="1500">
                <a:solidFill>
                  <a:srgbClr val="D2E4FF"/>
                </a:solidFill>
              </a:rPr>
              <a:t>prethodna visina — daje inerciju / “pamćenje” vala.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FFFF"/>
                </a:solidFill>
              </a:rPr>
              <a:t>h_L, h_R, h_U, h_D — </a:t>
            </a:r>
            <a:r>
              <a:rPr sz="1500">
                <a:solidFill>
                  <a:srgbClr val="D2E4FF"/>
                </a:solidFill>
              </a:rPr>
              <a:t>četiri susjedne ćelije.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20440"/>
            <a:ext cx="4800600" cy="2331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FFFFFF"/>
                </a:solidFill>
              </a:rPr>
              <a:t>(h_L+h_R+h_U+h_D−4hₜ) — </a:t>
            </a:r>
            <a:r>
              <a:rPr sz="1400">
                <a:solidFill>
                  <a:srgbClr val="D2E4FF"/>
                </a:solidFill>
              </a:rPr>
              <a:t>diskretni Laplaceov operator — mjeri koliko je ćelija različita od susjeda.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FFFFF"/>
                </a:solidFill>
              </a:rPr>
              <a:t>0.48 — </a:t>
            </a:r>
            <a:r>
              <a:rPr sz="1400">
                <a:solidFill>
                  <a:srgbClr val="D2E4FF"/>
                </a:solidFill>
              </a:rPr>
              <a:t>određuje brzinu širenja vala (Courantov faktor).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FFFFF"/>
                </a:solidFill>
              </a:rPr>
              <a:t>0.9965 — </a:t>
            </a:r>
            <a:r>
              <a:rPr sz="1400">
                <a:solidFill>
                  <a:srgbClr val="D2E4FF"/>
                </a:solidFill>
              </a:rPr>
              <a:t>prigušenje — u svakom koraku malo smanjuje energiju vala.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6108192"/>
            <a:ext cx="10561320" cy="384048"/>
          </a:xfrm>
          <a:prstGeom prst="roundRect">
            <a:avLst/>
          </a:prstGeom>
          <a:solidFill>
            <a:srgbClr val="FF9840"/>
          </a:solidFill>
          <a:ln>
            <a:solidFill>
              <a:srgbClr val="FFB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163056"/>
            <a:ext cx="10058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5EB"/>
                </a:solidFill>
              </a:rPr>
              <a:t>Simulacija se izvodi pri 120 Hz — val se širi kroz lokalne interakcije između susjednih ćelija.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26364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E6F0FF"/>
                </a:solidFill>
              </a:rPr>
              <a:t>8a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